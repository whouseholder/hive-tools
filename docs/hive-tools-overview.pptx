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17320"/>
            <a:ext cx="94484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606D"/>
                </a:solidFill>
                <a:latin typeface="Calibri"/>
              </a:rPr>
              <a:t>CDP 7.1.9 (Hive 3)  •  on-prem  •  Isilon  •  MySQL metastore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74519"/>
            <a:ext cx="94484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5400" b="1" i="0">
                <a:solidFill>
                  <a:srgbClr val="1D6FB8"/>
                </a:solidFill>
                <a:latin typeface="Calibri"/>
              </a:rPr>
              <a:t>hive-tools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71800"/>
            <a:ext cx="94484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1F2933"/>
                </a:solidFill>
                <a:latin typeface="Calibri"/>
              </a:rPr>
              <a:t>Keeping the 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Hive Metastore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 and its </a:t>
            </a:r>
            <a:r>
              <a:rPr sz="2000" b="1" i="0">
                <a:solidFill>
                  <a:srgbClr val="1F2933"/>
                </a:solidFill>
                <a:latin typeface="Calibri"/>
              </a:rPr>
              <a:t>MySQL backend</a:t>
            </a:r>
            <a:r>
              <a:rPr sz="2000" b="0" i="0">
                <a:solidFill>
                  <a:srgbClr val="1F2933"/>
                </a:solidFill>
                <a:latin typeface="Calibri"/>
              </a:rPr>
              <a:t> healthy.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33064" y="3794760"/>
            <a:ext cx="2468880" cy="402336"/>
          </a:xfrm>
          <a:prstGeom prst="roundRect">
            <a:avLst/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1D6FB8"/>
                </a:solidFill>
                <a:latin typeface="Calibri"/>
              </a:rPr>
              <a:t>Orphan Cleanup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6344" y="3794760"/>
            <a:ext cx="2743200" cy="402336"/>
          </a:xfrm>
          <a:prstGeom prst="roundRect">
            <a:avLst/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1D6FB8"/>
                </a:solidFill>
                <a:latin typeface="Calibri"/>
              </a:rPr>
              <a:t>Metadata Pressure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4617720"/>
            <a:ext cx="78025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606D"/>
                </a:solidFill>
                <a:latin typeface="Calibri"/>
              </a:rPr>
              <a:t>Two standalone Python tools (3.6+, standard library only). This deck: why they exist, what they do, and their limits — the repo README is the full guide.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Why these tools exist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85855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52606D"/>
                </a:solidFill>
                <a:latin typeface="Calibri"/>
              </a:rPr>
              <a:t>The metastore's MySQL DB is a shared, single-writer bottleneck. Two things degrade it: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Row bloat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data deleted straight off storage leaves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orphaned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table/partition rows behind in MySQL. Millions of dead rows slow every plan, backup, and upgrade.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Call pressure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badly-shaped workloads flood the HMS with API calls; each is a MySQL round-trip, so metadata gets slow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for everyone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.</a:t>
            </a:r>
          </a:p>
        </p:txBody>
      </p:sp>
      <p:pic>
        <p:nvPicPr>
          <p:cNvPr id="5" name="Picture 4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19633"/>
            <a:ext cx="11185855" cy="23333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The two tools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98448"/>
          <a:ext cx="11183112" cy="932688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926080"/>
                <a:gridCol w="5852160"/>
                <a:gridCol w="240487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Changes the cluster?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Orphan Cleanup</a:t>
                      </a: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  </a:t>
                      </a: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hive_orphan_cleanup.py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Finds &amp; removes Hive tables/partitions whose </a:t>
                      </a: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storage is gone</a:t>
                      </a: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, using standard Hive DML — shrinking metastore row counts on MySQL.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B23B3B"/>
                          </a:solidFill>
                          <a:latin typeface="Calibri"/>
                        </a:rPr>
                        <a:t>Only with </a:t>
                      </a: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--execute</a:t>
                      </a:r>
                    </a:p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52606D"/>
                          </a:solidFill>
                          <a:latin typeface="Calibri"/>
                        </a:rPr>
                        <a:t>read-only by default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Pressure Monitor</a:t>
                      </a: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  </a:t>
                      </a: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metadata_pressure_monitor.py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Reads HMS logs to find </a:t>
                      </a: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what/who</a:t>
                      </a: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 is overloading the metastore, correlates to Hive operations &amp; likely queries/apps, and prescribes fixes.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Never</a:t>
                      </a:r>
                    </a:p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52606D"/>
                          </a:solidFill>
                          <a:latin typeface="Calibri"/>
                        </a:rPr>
                        <a:t>strictly read-only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39496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52606D"/>
                </a:solidFill>
                <a:latin typeface="Calibri"/>
              </a:rPr>
              <a:t>Both are dependency-free: copy one script to an edge node and run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Which tool, when?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hich_t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02" y="1298448"/>
            <a:ext cx="43915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389888"/>
            <a:ext cx="5349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F2933"/>
                </a:solidFill>
                <a:latin typeface="Calibri"/>
              </a:rPr>
              <a:t>Not the right tool when…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You want to tune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MySQL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itself or change Cloudera Manager configs.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You want to find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unused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tables — orphan = storage genuinely gone, not idle.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You expect it to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apply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fixes — the monitor only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recommends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You want to reclaim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disk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cleanup removes metadata, not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Requirements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98448"/>
          <a:ext cx="11183112" cy="1865376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743200"/>
                <a:gridCol w="4219956"/>
                <a:gridCol w="4219956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Orphan Cleanup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Pressure Monitor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3.6+ , </a:t>
                      </a: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standard library only</a:t>
                      </a: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 (RHEL 8 friendly)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Cluster connection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beeline</a:t>
                      </a: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 + </a:t>
                      </a: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hdfs</a:t>
                      </a: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 on an edge node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None</a:t>
                      </a:r>
                      <a:r>
                        <a:rPr sz="1200" b="0" i="0">
                          <a:solidFill>
                            <a:srgbClr val="2E7D32"/>
                          </a:solidFill>
                          <a:latin typeface="Calibri"/>
                        </a:rPr>
                        <a:t> — reads log files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Kerberos ticket (or keytab / principal)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Built &amp; verified for CDP 7.1.9 / Hive 3 / Isilon / MySQL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Install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Nothing</a:t>
                      </a:r>
                      <a:r>
                        <a:rPr sz="1200" b="0" i="0">
                          <a:solidFill>
                            <a:srgbClr val="2E7D32"/>
                          </a:solidFill>
                          <a:latin typeface="Calibri"/>
                        </a:rPr>
                        <a:t> — no pip, no virtualenv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7492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52606D"/>
                </a:solidFill>
                <a:latin typeface="Calibri"/>
              </a:rPr>
              <a:t>In scope: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 metastore metadata health (row bloat + call pressure).   </a:t>
            </a:r>
            <a:r>
              <a:rPr sz="1300" b="1" i="0">
                <a:solidFill>
                  <a:srgbClr val="52606D"/>
                </a:solidFill>
                <a:latin typeface="Calibri"/>
              </a:rPr>
              <a:t>Out of scope: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 deleting user data, MySQL tuning, applying configs.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Architecture — systems these tools touch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435" y="1252728"/>
            <a:ext cx="7624823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52606D"/>
                </a:solidFill>
                <a:latin typeface="Calibri"/>
              </a:rPr>
              <a:t>Legend:</a:t>
            </a:r>
            <a:r>
              <a:rPr sz="1200" b="0" i="0">
                <a:solidFill>
                  <a:srgbClr val="52606D"/>
                </a:solidFill>
                <a:latin typeface="Calibri"/>
              </a:rPr>
              <a:t>  thin arrow = read-only   |   </a:t>
            </a:r>
            <a:r>
              <a:rPr sz="1200" b="1" i="0">
                <a:solidFill>
                  <a:srgbClr val="52606D"/>
                </a:solidFill>
                <a:latin typeface="Calibri"/>
              </a:rPr>
              <a:t>thick arrow = potentially mutating</a:t>
            </a:r>
            <a:r>
              <a:rPr sz="1200" b="0" i="0">
                <a:solidFill>
                  <a:srgbClr val="52606D"/>
                </a:solidFill>
                <a:latin typeface="Calibri"/>
              </a:rPr>
              <a:t> (Orphan Cleanup, only with </a:t>
            </a:r>
            <a:r>
              <a:rPr sz="1200" b="0" i="0">
                <a:solidFill>
                  <a:srgbClr val="1D6FB8"/>
                </a:solidFill>
                <a:latin typeface="Consolas"/>
              </a:rPr>
              <a:t>--execute</a:t>
            </a:r>
            <a:r>
              <a:rPr sz="1200" b="0" i="0">
                <a:solidFill>
                  <a:srgbClr val="52606D"/>
                </a:solidFill>
                <a:latin typeface="Calibri"/>
              </a:rPr>
              <a:t>, only via Hive DML)   |   dotted = optional.  No tool ever issues raw </a:t>
            </a:r>
            <a:r>
              <a:rPr sz="1200" b="0" i="0">
                <a:solidFill>
                  <a:srgbClr val="1D6FB8"/>
                </a:solidFill>
                <a:latin typeface="Consolas"/>
              </a:rPr>
              <a:t>DELETE</a:t>
            </a:r>
            <a:r>
              <a:rPr sz="1200" b="0" i="0">
                <a:solidFill>
                  <a:srgbClr val="52606D"/>
                </a:solidFill>
                <a:latin typeface="Calibri"/>
              </a:rPr>
              <a:t> against MySQL.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Orphan Cleanup — 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606D"/>
                </a:solidFill>
                <a:latin typeface="Calibri"/>
              </a:rPr>
              <a:t>Three modes; the recommended flow is </a:t>
            </a:r>
            <a:r>
              <a:rPr sz="1500" b="1" i="0">
                <a:solidFill>
                  <a:srgbClr val="52606D"/>
                </a:solidFill>
                <a:latin typeface="Calibri"/>
              </a:rPr>
              <a:t>report → review → apply</a:t>
            </a:r>
            <a:r>
              <a:rPr sz="1500" b="0" i="0">
                <a:solidFill>
                  <a:srgbClr val="52606D"/>
                </a:solidFill>
                <a:latin typeface="Calibr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47088"/>
          <a:ext cx="11183112" cy="124358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011680"/>
                <a:gridCol w="6766560"/>
                <a:gridCol w="240487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Mutates?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report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Enumerate HMS, check storage, write CSV + JSON + summary.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clean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Detect </a:t>
                      </a: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and</a:t>
                      </a: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 clean. Dry-run by default.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With </a:t>
                      </a: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--execute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apply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Clean exactly the rows in a prior (trimmed) report.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With </a:t>
                      </a: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--execute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06240"/>
            <a:ext cx="1118585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606D"/>
                </a:solidFill>
                <a:latin typeface="Calibri"/>
              </a:rPr>
              <a:t>Cleanup is standard Hive DML (</a:t>
            </a:r>
            <a:r>
              <a:rPr sz="1300" b="0" i="0">
                <a:solidFill>
                  <a:srgbClr val="1D6FB8"/>
                </a:solidFill>
                <a:latin typeface="Consolas"/>
              </a:rPr>
              <a:t>DROP TABLE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 / </a:t>
            </a:r>
            <a:r>
              <a:rPr sz="1300" b="0" i="0">
                <a:solidFill>
                  <a:srgbClr val="1D6FB8"/>
                </a:solidFill>
                <a:latin typeface="Consolas"/>
              </a:rPr>
              <a:t>ALTER TABLE … DROP PARTITION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), which cascades away the backing rows in </a:t>
            </a:r>
            <a:r>
              <a:rPr sz="1300" b="0" i="0">
                <a:solidFill>
                  <a:srgbClr val="1D6FB8"/>
                </a:solidFill>
                <a:latin typeface="Consolas"/>
              </a:rPr>
              <a:t>TBLS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 / </a:t>
            </a:r>
            <a:r>
              <a:rPr sz="1300" b="0" i="0">
                <a:solidFill>
                  <a:srgbClr val="1D6FB8"/>
                </a:solidFill>
                <a:latin typeface="Consolas"/>
              </a:rPr>
              <a:t>PARTITIONS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 / </a:t>
            </a:r>
            <a:r>
              <a:rPr sz="1300" b="0" i="0">
                <a:solidFill>
                  <a:srgbClr val="1D6FB8"/>
                </a:solidFill>
                <a:latin typeface="Consolas"/>
              </a:rPr>
              <a:t>SDS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 / … — the MySQL win.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Orphan Cleanup — how detection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254" y="1298448"/>
            <a:ext cx="354741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389888"/>
            <a:ext cx="5349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F2933"/>
                </a:solidFill>
                <a:latin typeface="Calibri"/>
              </a:rPr>
              <a:t>Positive proof of absence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An object is flagged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only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when its parent lists successfully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and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it is genuinely missing.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Any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indeterminate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result (outage, NameNode blip) is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skipped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a storage hiccup cannot manufacture orphans.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Listings are batched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one per parent dir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and cached, keeping load off Isilon.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Orphan Cleanup — safety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78" y="1298448"/>
            <a:ext cx="3178882" cy="48920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72200" y="1298448"/>
          <a:ext cx="5486400" cy="2176272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920240"/>
                <a:gridCol w="1828800"/>
                <a:gridCol w="17373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Loosen with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Dry-run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--execute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External-only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managed skipped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--allow-managed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ACID protection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always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B23B3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Positive proof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always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52606D"/>
                          </a:solidFill>
                          <a:latin typeface="Calibri"/>
                        </a:rPr>
                        <a:t>discouraged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Bulk guard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--allow-bulk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Typed confirm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type </a:t>
                      </a: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--yes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72200" y="489204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2606D"/>
                </a:solidFill>
                <a:latin typeface="Calibri"/>
              </a:rPr>
              <a:t>Loosening one gate never weakens the others: </a:t>
            </a:r>
            <a:r>
              <a:rPr sz="1150" b="0" i="0">
                <a:solidFill>
                  <a:srgbClr val="1D6FB8"/>
                </a:solidFill>
                <a:latin typeface="Consolas"/>
              </a:rPr>
              <a:t>--yes</a:t>
            </a:r>
            <a:r>
              <a:rPr sz="1150" b="0" i="0">
                <a:solidFill>
                  <a:srgbClr val="52606D"/>
                </a:solidFill>
                <a:latin typeface="Calibri"/>
              </a:rPr>
              <a:t> skips only the keystroke; ACID is never droppable.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Pressure Monitor — what it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8585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>
                <a:solidFill>
                  <a:srgbClr val="1D6FB8"/>
                </a:solidFill>
                <a:latin typeface="Calibri"/>
              </a:rPr>
              <a:t>• 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Which HMS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methods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 dominate call volume and total time?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>
                <a:solidFill>
                  <a:srgbClr val="1D6FB8"/>
                </a:solidFill>
                <a:latin typeface="Calibri"/>
              </a:rPr>
              <a:t>• 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Which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Hive operations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 (DROP / ALTER / ADD PARTITION, CREATE / DROP TABLE, ANALYZE) drive them?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>
                <a:solidFill>
                  <a:srgbClr val="1D6FB8"/>
                </a:solidFill>
                <a:latin typeface="Calibri"/>
              </a:rPr>
              <a:t>• 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Which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users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,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client IPs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,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tables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HMS hosts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 contribute most?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>
                <a:solidFill>
                  <a:srgbClr val="1D6FB8"/>
                </a:solidFill>
                <a:latin typeface="Calibri"/>
              </a:rPr>
              <a:t>• 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How does load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trend over time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 — where are the storms?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>
                <a:solidFill>
                  <a:srgbClr val="1D6FB8"/>
                </a:solidFill>
                <a:latin typeface="Calibri"/>
              </a:rPr>
              <a:t>•  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Which patterns look like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loops / repetitive calls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 — and how to fix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606D"/>
                </a:solidFill>
                <a:latin typeface="Calibri"/>
              </a:rPr>
              <a:t>For every finding it prints a concrete remediation: batching, partition pruning, breaking loops, delegation-token store, stats tuning,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Pressure Monitor — how a run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1298448"/>
            <a:ext cx="3037839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3212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2606D"/>
                </a:solidFill>
                <a:latin typeface="Calibri"/>
              </a:rPr>
              <a:t>Cheap → expensive, so most lines are discarded before any regex.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1298448"/>
          <a:ext cx="5486400" cy="124358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54480"/>
                <a:gridCol w="2697480"/>
                <a:gridCol w="123444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Mutates?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report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Analyze a window; fan-out &amp; incremental options.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monitor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Scheduled tail with de-duplicated alerts.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agg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Per-node worker for SSH fan-out.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315468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>
                <a:solidFill>
                  <a:srgbClr val="1D6FB8"/>
                </a:solidFill>
                <a:latin typeface="Calibri"/>
              </a:rPr>
              <a:t>•   </a:t>
            </a:r>
            <a:r>
              <a:rPr sz="1250" b="1" i="0">
                <a:solidFill>
                  <a:srgbClr val="52606D"/>
                </a:solidFill>
                <a:latin typeface="Calibri"/>
              </a:rPr>
              <a:t>Fast:</a:t>
            </a:r>
            <a:r>
              <a:rPr sz="1250" b="0" i="0">
                <a:solidFill>
                  <a:srgbClr val="52606D"/>
                </a:solidFill>
                <a:latin typeface="Calibri"/>
              </a:rPr>
              <a:t> a </a:t>
            </a:r>
            <a:r>
              <a:rPr sz="1250" b="0" i="0">
                <a:solidFill>
                  <a:srgbClr val="1D6FB8"/>
                </a:solidFill>
                <a:latin typeface="Consolas"/>
              </a:rPr>
              <a:t>--last 1h</a:t>
            </a:r>
            <a:r>
              <a:rPr sz="1250" b="0" i="0">
                <a:solidFill>
                  <a:srgbClr val="52606D"/>
                </a:solidFill>
                <a:latin typeface="Calibri"/>
              </a:rPr>
              <a:t> scan of a multi-GB log runs in well under a second.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>
                <a:solidFill>
                  <a:srgbClr val="1D6FB8"/>
                </a:solidFill>
                <a:latin typeface="Calibri"/>
              </a:rPr>
              <a:t>•   </a:t>
            </a:r>
            <a:r>
              <a:rPr sz="1250" b="1" i="0">
                <a:solidFill>
                  <a:srgbClr val="52606D"/>
                </a:solidFill>
                <a:latin typeface="Calibri"/>
              </a:rPr>
              <a:t>Incremental</a:t>
            </a:r>
            <a:r>
              <a:rPr sz="1250" b="0" i="0">
                <a:solidFill>
                  <a:srgbClr val="52606D"/>
                </a:solidFill>
                <a:latin typeface="Calibri"/>
              </a:rPr>
              <a:t> (</a:t>
            </a:r>
            <a:r>
              <a:rPr sz="1250" b="0" i="0">
                <a:solidFill>
                  <a:srgbClr val="1D6FB8"/>
                </a:solidFill>
                <a:latin typeface="Consolas"/>
              </a:rPr>
              <a:t>--state-dir</a:t>
            </a:r>
            <a:r>
              <a:rPr sz="1250" b="0" i="0">
                <a:solidFill>
                  <a:srgbClr val="52606D"/>
                </a:solidFill>
                <a:latin typeface="Calibri"/>
              </a:rPr>
              <a:t>): re-runs parse only new bytes.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>
                <a:solidFill>
                  <a:srgbClr val="1D6FB8"/>
                </a:solidFill>
                <a:latin typeface="Calibri"/>
              </a:rPr>
              <a:t>•   </a:t>
            </a:r>
            <a:r>
              <a:rPr sz="1250" b="1" i="0">
                <a:solidFill>
                  <a:srgbClr val="52606D"/>
                </a:solidFill>
                <a:latin typeface="Calibri"/>
              </a:rPr>
              <a:t>Fleet</a:t>
            </a:r>
            <a:r>
              <a:rPr sz="1250" b="0" i="0">
                <a:solidFill>
                  <a:srgbClr val="52606D"/>
                </a:solidFill>
                <a:latin typeface="Calibri"/>
              </a:rPr>
              <a:t> (</a:t>
            </a:r>
            <a:r>
              <a:rPr sz="1250" b="0" i="0">
                <a:solidFill>
                  <a:srgbClr val="1D6FB8"/>
                </a:solidFill>
                <a:latin typeface="Consolas"/>
              </a:rPr>
              <a:t>--hosts</a:t>
            </a:r>
            <a:r>
              <a:rPr sz="1250" b="0" i="0">
                <a:solidFill>
                  <a:srgbClr val="52606D"/>
                </a:solidFill>
                <a:latin typeface="Calibri"/>
              </a:rPr>
              <a:t>): each HMS node parses its own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Pressure Monitor — attributing the 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52606D"/>
                </a:solidFill>
                <a:latin typeface="Calibri"/>
              </a:rPr>
              <a:t>Beyond “which method is hot”, the report names </a:t>
            </a:r>
            <a:r>
              <a:rPr sz="1500" b="1" i="0">
                <a:solidFill>
                  <a:srgbClr val="52606D"/>
                </a:solidFill>
                <a:latin typeface="Calibri"/>
              </a:rPr>
              <a:t>who / what to go fix</a:t>
            </a:r>
            <a:r>
              <a:rPr sz="1500" b="0" i="0">
                <a:solidFill>
                  <a:srgbClr val="52606D"/>
                </a:solidFill>
                <a:latin typeface="Calibri"/>
              </a:rPr>
              <a:t>: top contributors, and up to a </a:t>
            </a:r>
            <a:r>
              <a:rPr sz="1500" b="1" i="0">
                <a:solidFill>
                  <a:srgbClr val="52606D"/>
                </a:solidFill>
                <a:latin typeface="Calibri"/>
              </a:rPr>
              <a:t>Top-5 likely source per operation</a:t>
            </a:r>
            <a:r>
              <a:rPr sz="1500" b="0" i="0">
                <a:solidFill>
                  <a:srgbClr val="52606D"/>
                </a:solidFill>
                <a:latin typeface="Calibri"/>
              </a:rPr>
              <a:t> with a confidence score.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350008"/>
          <a:ext cx="11183112" cy="124358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572000"/>
                <a:gridCol w="2926080"/>
                <a:gridCol w="368503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Evidence available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Shown as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user + table from HMS audit only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ranked, capped </a:t>
                      </a: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&lt; 100%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“NN%” (guess)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+ client op matched on table </a:t>
                      </a: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and</a:t>
                      </a: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 time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higher %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“NN%” + queryId / appId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single unambiguous driver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E7D32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07492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606D"/>
                </a:solidFill>
                <a:latin typeface="Calibri"/>
              </a:rPr>
              <a:t>Honest by design: HMS audit logs share no id with HS2, so attribution is a ranked </a:t>
            </a:r>
            <a:r>
              <a:rPr sz="1300" b="1" i="0">
                <a:solidFill>
                  <a:srgbClr val="52606D"/>
                </a:solidFill>
                <a:latin typeface="Calibri"/>
              </a:rPr>
              <a:t>guess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 unless HS2 / YARN / Spark logs confirm it. Treat the Top-5 as leads.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Implementation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5349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D6FB8"/>
                </a:solidFill>
                <a:latin typeface="Calibri"/>
              </a:rPr>
              <a:t>Built for production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Python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3.6+, stdlib only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no install.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Verified on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RHEL 8 / CDP 7.1.9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Read-only by default; every drop is audited.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Third-party safety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audit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+ automated test harness.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98448"/>
            <a:ext cx="5349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D6FB8"/>
                </a:solidFill>
                <a:latin typeface="Calibri"/>
              </a:rPr>
              <a:t>Built for repeated runs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Fast filtering + cached parsing (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~16×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faster timestamps).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Incremental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re-runs (process only new log bytes).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Fleet fan-out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over SSH — no central log collection.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Batched, cached </a:t>
            </a:r>
            <a:r>
              <a:rPr sz="1500" b="0" i="0">
                <a:solidFill>
                  <a:srgbClr val="1D6FB8"/>
                </a:solidFill>
                <a:latin typeface="Consolas"/>
              </a:rPr>
              <a:t>hdfs -ls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to spare Isilon.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Limitations &amp;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8585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Scope: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tuned for CDP 7.1.9 / Hive 3 on-prem (RHEL 8, Isilon, MySQL). Other versions untested.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Orphan Cleanup needs a healthy filesystem view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run when Isilon / HDFS + NameNode are healthy; the bulk guard is a backstop, not a substitute.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“Orphaned” ≠ “unused”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tables whose data still exists are never flagged.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Correlation is best-effort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a ranked guess with a confidence score unless client logs confirm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Logs must be readable &amp; standard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parsing targets Cloudera PERFLOG + AUDIT lines; live tail reads uncompressed logs.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>
                <a:solidFill>
                  <a:srgbClr val="1D6FB8"/>
                </a:solidFill>
                <a:latin typeface="Calibri"/>
              </a:rPr>
              <a:t>•   </a:t>
            </a:r>
            <a:r>
              <a:rPr sz="1500" b="1" i="0">
                <a:solidFill>
                  <a:srgbClr val="1F2933"/>
                </a:solidFill>
                <a:latin typeface="Calibri"/>
              </a:rPr>
              <a:t>Change control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 — back up the metastore (MySQL dump) before large cleanups.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A safe 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58834"/>
            <a:ext cx="11185855" cy="8430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4114800"/>
            <a:ext cx="96313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Diagnose with the monitor → remove dead metadata with cleanup → confirm the metastore got faster. Execution stays a human-reviewed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D6FB8"/>
                </a:solidFill>
                <a:latin typeface="Calibri"/>
              </a:rPr>
              <a:t>Where to learn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5855" cy="29260"/>
          </a:xfrm>
          <a:prstGeom prst="rect">
            <a:avLst/>
          </a:prstGeom>
          <a:solidFill>
            <a:srgbClr val="1D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The repository </a:t>
            </a:r>
            <a:r>
              <a:rPr sz="1600" b="1" i="0">
                <a:solidFill>
                  <a:srgbClr val="1F2933"/>
                </a:solidFill>
                <a:latin typeface="Calibri"/>
              </a:rPr>
              <a:t>README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 files are the comprehensive guide.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647" y="2029967"/>
          <a:ext cx="10058400" cy="15544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657600"/>
                <a:gridCol w="64008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Doc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D6FB8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 anchor="t" marL="82296" marR="82296" marT="45720" marB="45720">
                    <a:solidFill>
                      <a:srgbClr val="EEF3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README.md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Overview, which-tool, systems, safety model, caveats.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orphan-cleanup/README.md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Detection, safety gates, options, scheduling.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pressure-monitor/README.md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Pipeline, fan-out, correlation, findings catalog.</a:t>
                      </a:r>
                    </a:p>
                  </a:txBody>
                  <a:tcPr anchor="t" marL="82296" marR="82296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D6FB8"/>
                          </a:solidFill>
                          <a:latin typeface="Consolas"/>
                        </a:rPr>
                        <a:t>AUDIT.md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Third-party safety &amp; compatibility audit.</a:t>
                      </a:r>
                    </a:p>
                  </a:txBody>
                  <a:tcPr anchor="t" marL="82296" marR="82296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07492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2606D"/>
                </a:solidFill>
                <a:latin typeface="Calibri"/>
              </a:rPr>
              <a:t>Start read-only:   </a:t>
            </a:r>
            <a:r>
              <a:rPr sz="1300" b="0" i="0">
                <a:solidFill>
                  <a:srgbClr val="1D6FB8"/>
                </a:solidFill>
                <a:latin typeface="Consolas"/>
              </a:rPr>
              <a:t>report --paths /var/log/hive --last 24h</a:t>
            </a:r>
            <a:r>
              <a:rPr sz="1300" b="0" i="0">
                <a:solidFill>
                  <a:srgbClr val="52606D"/>
                </a:solidFill>
                <a:latin typeface="Calibri"/>
              </a:rPr>
              <a:t>    /    </a:t>
            </a:r>
            <a:r>
              <a:rPr sz="1300" b="0" i="0">
                <a:solidFill>
                  <a:srgbClr val="1D6FB8"/>
                </a:solidFill>
                <a:latin typeface="Consolas"/>
              </a:rPr>
              <a:t>report --jdbc-url … --output-dir ./out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2606D"/>
                </a:solidFill>
                <a:latin typeface="Calibri"/>
              </a:rPr>
              <a:t>hive-tools •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8615" y="647395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2606D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